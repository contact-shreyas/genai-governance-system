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56032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182880"/>
            <a:ext cx="2286000" cy="2286000"/>
          </a:xfrm>
          <a:prstGeom prst="rect">
            <a:avLst/>
          </a:prstGeom>
          <a:solidFill>
            <a:srgbClr val="0A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GenAI Governance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for Higher Education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8BBD4"/>
                </a:solidFill>
              </a:rPr>
              <a:t>Executable &amp; Verifiable Governance for Generative AI:
A Policy-as-Code Framework with Transparent Ledger and Verified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14800"/>
            <a:ext cx="2468880" cy="457200"/>
          </a:xfrm>
          <a:prstGeom prst="rect">
            <a:avLst/>
          </a:prstGeom>
          <a:solidFill>
            <a:srgbClr val="162A46"/>
          </a:solidFill>
          <a:ln w="19050">
            <a:solidFill>
              <a:srgbClr val="00C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422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9A"/>
                </a:solidFill>
              </a:rPr>
              <a:t>Policy-as-Code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4114800"/>
            <a:ext cx="2468880" cy="457200"/>
          </a:xfrm>
          <a:prstGeom prst="rect">
            <a:avLst/>
          </a:prstGeom>
          <a:solidFill>
            <a:srgbClr val="162A46"/>
          </a:solidFill>
          <a:ln w="19050">
            <a:solidFill>
              <a:srgbClr val="00C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41422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9A"/>
                </a:solidFill>
              </a:rPr>
              <a:t>Privacy-Preserving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4114800"/>
            <a:ext cx="2468880" cy="457200"/>
          </a:xfrm>
          <a:prstGeom prst="rect">
            <a:avLst/>
          </a:prstGeom>
          <a:solidFill>
            <a:srgbClr val="162A46"/>
          </a:solidFill>
          <a:ln w="19050">
            <a:solidFill>
              <a:srgbClr val="00C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41422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9A"/>
                </a:solidFill>
              </a:rPr>
              <a:t>RAG Copilot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4114800"/>
            <a:ext cx="2468880" cy="457200"/>
          </a:xfrm>
          <a:prstGeom prst="rect">
            <a:avLst/>
          </a:prstGeom>
          <a:solidFill>
            <a:srgbClr val="162A46"/>
          </a:solidFill>
          <a:ln w="19050">
            <a:solidFill>
              <a:srgbClr val="00C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41422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9A"/>
                </a:solidFill>
              </a:rPr>
              <a:t>Open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8BBD4"/>
                </a:solidFill>
              </a:rPr>
              <a:t>Research-grade · Production-ready · 3 500+ lines of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00C89A"/>
                </a:solidFill>
              </a:rPr>
              <a:t>Target: FAccT 2026 / SIGCSE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Why does higher education need AI governance?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237744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261872"/>
            <a:ext cx="5532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📋  Inconsistent Policies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600200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Policies written in plain English – not enforceable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Each professor / institution sets different rules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Students get conflicting guidance across courses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760720" cy="237744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261872"/>
            <a:ext cx="5532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🔍  No Transparency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1600200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Students don't know what's logged or why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Privacy concerns around AI-use monitoring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Trust deficit between students and institutions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749039"/>
            <a:ext cx="5760720" cy="237744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822191"/>
            <a:ext cx="5532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🤔  Unanswered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160520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'Can I use ChatGPT for this assignment?'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Policy documents are long, hard to navigate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Hallucinating chatbots give wrong policy answers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749039"/>
            <a:ext cx="5760720" cy="237744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822191"/>
            <a:ext cx="5532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⚖️  Accountability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160520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No audit trail for enforcement decisions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Instructors lack analytics on AI use patterns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No mechanism to detect policy contradictions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An integrated governance platform with 4 core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2377440"/>
          </a:xfrm>
          <a:prstGeom prst="rect">
            <a:avLst/>
          </a:prstGeom>
          <a:solidFill>
            <a:srgbClr val="162A46"/>
          </a:solidFill>
          <a:ln w="254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801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7AFF"/>
                </a:solidFill>
              </a:rPr>
              <a:t>1  Policy-as-Code Compiler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691640"/>
            <a:ext cx="5486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▸  Faculty fill a template form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System generates machine-executable JSON rules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Automatic conflict &amp; contradiction detection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Immutable versioned policy 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188720"/>
            <a:ext cx="5760720" cy="2377440"/>
          </a:xfrm>
          <a:prstGeom prst="rect">
            <a:avLst/>
          </a:prstGeom>
          <a:solidFill>
            <a:srgbClr val="162A46"/>
          </a:solidFill>
          <a:ln w="25400">
            <a:solidFill>
              <a:srgbClr val="00C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9A"/>
                </a:solidFill>
              </a:rPr>
              <a:t>2  Runtime Enforcement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5486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▸  Stateless decision function: f(policy, context)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Returns ALLOW / DENY / REQUIRE_JUSTIFICATION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Full audit trace for every decision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Role &amp; phase-aware rule matching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749039"/>
            <a:ext cx="5760720" cy="2377440"/>
          </a:xfrm>
          <a:prstGeom prst="rect">
            <a:avLst/>
          </a:prstGeom>
          <a:solidFill>
            <a:srgbClr val="162A46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3840479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A500"/>
                </a:solidFill>
              </a:rPr>
              <a:t>3  Transparency Ledger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251959"/>
            <a:ext cx="5486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▸  Metadata-only logging – zero PII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Pseudonymous student tracking (30-day rotation)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Student-facing: 'You used AI 3× under v2.1 policy'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Instructor aggregated analytics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59" y="3749039"/>
            <a:ext cx="5760720" cy="2377440"/>
          </a:xfrm>
          <a:prstGeom prst="rect">
            <a:avLst/>
          </a:prstGeom>
          <a:solidFill>
            <a:srgbClr val="162A46"/>
          </a:solidFill>
          <a:ln w="25400">
            <a:solidFill>
              <a:srgbClr val="EE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840479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E66AA"/>
                </a:solidFill>
              </a:rPr>
              <a:t>4  Verified RAG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251959"/>
            <a:ext cx="5486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▸  Policy Q&amp;A with citation-level accuracy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NLI entailment scoring to detect hallucinations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Consistency check across all policies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▸  Flags low-confidence answers for human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End-to-end data flow through the governance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143000"/>
            <a:ext cx="9445752" cy="868680"/>
          </a:xfrm>
          <a:prstGeom prst="rect">
            <a:avLst/>
          </a:prstGeom>
          <a:solidFill>
            <a:srgbClr val="162A46"/>
          </a:solidFill>
          <a:ln w="254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34416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7AFF"/>
                </a:solidFill>
              </a:rPr>
              <a:t>Faculty / Student UI  (Next.js 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0116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BBD4"/>
                </a:solidFill>
              </a:rPr>
              <a:t>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331720"/>
            <a:ext cx="9445752" cy="868680"/>
          </a:xfrm>
          <a:prstGeom prst="rect">
            <a:avLst/>
          </a:prstGeom>
          <a:solidFill>
            <a:srgbClr val="162A46"/>
          </a:solidFill>
          <a:ln w="25400">
            <a:solidFill>
              <a:srgbClr val="00C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08760" y="253288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9A"/>
                </a:solidFill>
              </a:rPr>
              <a:t>FastAPI Backend  (Python 3.11)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2004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BBD4"/>
                </a:solidFill>
              </a:rPr>
              <a:t>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520440"/>
            <a:ext cx="9445752" cy="868680"/>
          </a:xfrm>
          <a:prstGeom prst="rect">
            <a:avLst/>
          </a:prstGeom>
          <a:solidFill>
            <a:srgbClr val="162A46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372160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A500"/>
                </a:solidFill>
              </a:rPr>
              <a:t>Policy Compiler  ·  Enforcement Engine  ·  Transparency Ledger  ·  RAG Copilot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3891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BBD4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709160"/>
            <a:ext cx="9445752" cy="868680"/>
          </a:xfrm>
          <a:prstGeom prst="rect">
            <a:avLst/>
          </a:prstGeom>
          <a:solidFill>
            <a:srgbClr val="162A46"/>
          </a:solidFill>
          <a:ln w="25400">
            <a:solidFill>
              <a:srgbClr val="995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49103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9955FF"/>
                </a:solidFill>
              </a:rPr>
              <a:t>PostgreSQL / SQLite  (SQLAlchemy ORM)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" y="14173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A8BBD4"/>
                </a:solidFill>
              </a:rPr>
              <a:t>Policy
Authoring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" y="260604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A8BBD4"/>
                </a:solidFill>
              </a:rPr>
              <a:t>REST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" y="379476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A8BBD4"/>
                </a:solidFill>
              </a:rPr>
              <a:t>Core Logic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" y="498348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A8BBD4"/>
                </a:solidFill>
              </a:rPr>
              <a:t>Persistence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Component 1: Policy-as-Code Compiler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Transform faculty intent → machine-executable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286000" cy="1005840"/>
          </a:xfrm>
          <a:prstGeom prst="rect">
            <a:avLst/>
          </a:prstGeom>
          <a:solidFill>
            <a:srgbClr val="1A7A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Faculty
Form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691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BBD4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417320"/>
            <a:ext cx="2286000" cy="1005840"/>
          </a:xfrm>
          <a:prstGeom prst="rect">
            <a:avLst/>
          </a:prstGeom>
          <a:solidFill>
            <a:srgbClr val="00C89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0876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Schema
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691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BBD4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79" y="1417320"/>
            <a:ext cx="2286000" cy="1005840"/>
          </a:xfrm>
          <a:prstGeom prst="rect">
            <a:avLst/>
          </a:prstGeom>
          <a:solidFill>
            <a:srgbClr val="FFA5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19" y="150876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Conflict
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1691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BBD4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399" y="1417320"/>
            <a:ext cx="2286000" cy="1005840"/>
          </a:xfrm>
          <a:prstGeom prst="rect">
            <a:avLst/>
          </a:prstGeom>
          <a:solidFill>
            <a:srgbClr val="9955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39" y="150876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Versioned
Policy 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51760"/>
            <a:ext cx="5394960" cy="301752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2724912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What Faculty Provide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3063240"/>
            <a:ext cx="51663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Course ID &amp; policy title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Allowed actions  (brainstorm, code review …)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Prohibited actions  (submit as own …)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Disclosure requirements &amp; logging level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Assessment types &amp; phases it applies 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651760"/>
            <a:ext cx="5577840" cy="301752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272491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Conflict Types Detected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063240"/>
            <a:ext cx="5349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Scope overlap: Course A ⊂ Course B policies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Action contradiction: allow X &amp; deny X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Version conflict: v1 vs v2 active simultaneously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Internal inconsistency: logging OFF + disclosure ON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Result: 0 silent policy errors reach production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Component 2: Runtime Enforcement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Stateless, deterministic policy decisions in &lt;100 ms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325880"/>
            <a:ext cx="4114800" cy="1371600"/>
          </a:xfrm>
          <a:prstGeom prst="rect">
            <a:avLst/>
          </a:prstGeom>
          <a:solidFill>
            <a:srgbClr val="00C89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41732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D1B2A"/>
                </a:solidFill>
              </a:rPr>
              <a:t>f ( policy , context )
→  decision + trace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3291840" cy="109728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08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FF"/>
                </a:solidFill>
              </a:rPr>
              <a:t>Context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82880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course_id, actor_role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0299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action, assessment_type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231136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assessment_phase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43230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actor_id_pseudonym  (hashed)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8BBD4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463040"/>
            <a:ext cx="3566160" cy="1097280"/>
          </a:xfrm>
          <a:prstGeom prst="rect">
            <a:avLst/>
          </a:prstGeom>
          <a:solidFill>
            <a:srgbClr val="162A46"/>
          </a:solidFill>
          <a:ln w="12700">
            <a:solidFill>
              <a:srgbClr val="00C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5087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A"/>
                </a:solidFill>
              </a:rPr>
              <a:t>Decision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1828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decision: ALLOW / DENY / REQUIRE_JUS…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029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obligations: [disclosure_required …]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231136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trace: {steps, rules_matched}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432304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policy_id, applied_rules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17830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8BBD4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880360"/>
            <a:ext cx="3383280" cy="1097280"/>
          </a:xfrm>
          <a:prstGeom prst="rect">
            <a:avLst/>
          </a:prstGeom>
          <a:solidFill>
            <a:srgbClr val="00AA5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9260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✅  ALLOW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023360"/>
            <a:ext cx="3383280" cy="1371600"/>
          </a:xfrm>
          <a:prstGeom prst="rect">
            <a:avLst/>
          </a:prstGeom>
          <a:solidFill>
            <a:srgbClr val="162A46"/>
          </a:solidFill>
          <a:ln w="12700">
            <a:solidFill>
              <a:srgbClr val="00A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06908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Action permitted under
active policy. May include
disclosure obligations.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79" y="2880360"/>
            <a:ext cx="3383280" cy="1097280"/>
          </a:xfrm>
          <a:prstGeom prst="rect">
            <a:avLst/>
          </a:prstGeom>
          <a:solidFill>
            <a:srgbClr val="CC22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29260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❌  DENY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79" y="4023360"/>
            <a:ext cx="3383280" cy="1371600"/>
          </a:xfrm>
          <a:prstGeom prst="rect">
            <a:avLst/>
          </a:prstGeom>
          <a:solidFill>
            <a:srgbClr val="162A46"/>
          </a:solidFill>
          <a:ln w="127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406908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Action prohibited.
Student notified.
Reason logged.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19" y="2880360"/>
            <a:ext cx="3383280" cy="1097280"/>
          </a:xfrm>
          <a:prstGeom prst="rect">
            <a:avLst/>
          </a:prstGeom>
          <a:solidFill>
            <a:srgbClr val="FFA5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79" y="29260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⚠️  REQUIRE
JUSTIFICATION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19" y="4023360"/>
            <a:ext cx="3383280" cy="1371600"/>
          </a:xfrm>
          <a:prstGeom prst="rect">
            <a:avLst/>
          </a:prstGeom>
          <a:solidFill>
            <a:srgbClr val="162A46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3879" y="406908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Borderline case.
Student must provide
reasoning before proceeding.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A8BBD4"/>
                </a:solidFill>
              </a:rPr>
              <a:t>Properties:  Stateless · Deterministic · Full audit trace · &lt;100 ms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Component 3: Transparency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Privacy-preserving logging with student-facing dashboards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394960" cy="484632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261872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✅  What IS Logged  (Safe Metadata)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600200"/>
            <a:ext cx="51663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course_id                (e.g., CS101)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actor_id_pseudonym       (salted hash – not real ID)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action                   (use_genai_brainstorm)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assessment_type          (problem_set)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policy_id                (CS101_v1.0)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decision                 (ALLOW)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timestamp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retention_until          (90-day default)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188720"/>
            <a:ext cx="5943600" cy="219456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1261872"/>
            <a:ext cx="5715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5555"/>
                </a:solidFill>
              </a:rPr>
              <a:t>❌  What is NEVER Logged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600200"/>
            <a:ext cx="571500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Student name or student ID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Assignment or submission content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AI tool output or prompts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Learning outcomes or grades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Any behavioural profile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3520440"/>
            <a:ext cx="5943600" cy="251460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3593592"/>
            <a:ext cx="5715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FF"/>
                </a:solidFill>
              </a:rPr>
              <a:t>📊  Student Dashboard  (sample)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3931920"/>
            <a:ext cx="5715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"You have 3 AI-use events logged."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"Last event: 2026-01-20"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"Action: use_genai_brainstorm – 2× under v2.1"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"Logs deleted 90 days after creation."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"You can opt-out of logging at any time."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Component 4: Verified RAG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Policy Q&amp;A with citation-level accuracy and hallucination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1920240" cy="100584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1991" y="16002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A8BBD4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2032" y="1325880"/>
            <a:ext cx="1920240" cy="100584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173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Vector
Retrieval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6002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A8BBD4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9744" y="1325880"/>
            <a:ext cx="1920240" cy="1005840"/>
          </a:xfrm>
          <a:prstGeom prst="rect">
            <a:avLst/>
          </a:prstGeom>
          <a:solidFill>
            <a:srgbClr val="99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3" y="14173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LLM
Generation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6" y="16002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A8BBD4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77455" y="1325880"/>
            <a:ext cx="1920240" cy="100584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8895" y="14173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Verification
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16002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A8BBD4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45168" y="1325880"/>
            <a:ext cx="1920240" cy="1005840"/>
          </a:xfrm>
          <a:prstGeom prst="rect">
            <a:avLst/>
          </a:prstGeom>
          <a:solidFill>
            <a:srgbClr val="00A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4173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Answer +
Citations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606040"/>
            <a:ext cx="5394960" cy="338328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2679192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Verification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017520"/>
            <a:ext cx="51663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Citation Correctness  – quoted text exists in policy?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 Target: &gt; 95 %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Entailment Scoring    – NLI: answer ⊨ policy text?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 Target: &gt; 90 %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Consistency Check     – contradicts other policies?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Uncertainty Flagging  – &lt; 0.7 confidence → escalate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Hallucination Rate    – target &lt; 5 %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606040"/>
            <a:ext cx="5943600" cy="338328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2679192"/>
            <a:ext cx="5715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Sample Response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3017520"/>
            <a:ext cx="57150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</a:rPr>
              <a:t>{ "direct_answer":  "Yes, with disclosure",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 "citations": [{ "quoted_text": "…",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                 "source_policy_id": "CS101_v1",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                 "confidence": 0.95 }],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 "verification": {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     "citation_correctness": 1.0,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     "entailment": 0.92,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     "overall_score": 0.97 },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 "requires_human_review": false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Production-grade, open-source components throughout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760720" cy="2514600"/>
          </a:xfrm>
          <a:prstGeom prst="rect">
            <a:avLst/>
          </a:prstGeom>
          <a:solidFill>
            <a:srgbClr val="162A46"/>
          </a:solidFill>
          <a:ln w="254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32588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7AFF"/>
                </a:solidFill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737360"/>
            <a:ext cx="54864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• Python 3.11</a:t>
            </a:r>
          </a:p>
          <a:p>
            <a:r>
              <a:rPr sz="1300">
                <a:solidFill>
                  <a:srgbClr val="FFFFFF"/>
                </a:solidFill>
              </a:rPr>
              <a:t>• FastAPI + Uvicorn</a:t>
            </a:r>
          </a:p>
          <a:p>
            <a:r>
              <a:rPr sz="1300">
                <a:solidFill>
                  <a:srgbClr val="FFFFFF"/>
                </a:solidFill>
              </a:rPr>
              <a:t>• SQLAlchemy ORM</a:t>
            </a:r>
          </a:p>
          <a:p>
            <a:r>
              <a:rPr sz="1300">
                <a:solidFill>
                  <a:srgbClr val="FFFFFF"/>
                </a:solidFill>
              </a:rPr>
              <a:t>• Pydantic v2 (validation)</a:t>
            </a:r>
          </a:p>
          <a:p>
            <a:r>
              <a:rPr sz="1300">
                <a:solidFill>
                  <a:srgbClr val="FFFFFF"/>
                </a:solidFill>
              </a:rPr>
              <a:t>• Alembic (migrations)</a:t>
            </a:r>
          </a:p>
          <a:p>
            <a:r>
              <a:rPr sz="1300">
                <a:solidFill>
                  <a:srgbClr val="FFFFFF"/>
                </a:solidFill>
              </a:rPr>
              <a:t>• pytest + Hypothesis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234440"/>
            <a:ext cx="5760720" cy="2514600"/>
          </a:xfrm>
          <a:prstGeom prst="rect">
            <a:avLst/>
          </a:prstGeom>
          <a:solidFill>
            <a:srgbClr val="162A46"/>
          </a:solidFill>
          <a:ln w="25400">
            <a:solidFill>
              <a:srgbClr val="00C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2588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9A"/>
                </a:solidFill>
              </a:rP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4864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• Next.js 14  (App Router)</a:t>
            </a:r>
          </a:p>
          <a:p>
            <a:r>
              <a:rPr sz="1300">
                <a:solidFill>
                  <a:srgbClr val="FFFFFF"/>
                </a:solidFill>
              </a:rPr>
              <a:t>• TypeScript</a:t>
            </a:r>
          </a:p>
          <a:p>
            <a:r>
              <a:rPr sz="1300">
                <a:solidFill>
                  <a:srgbClr val="FFFFFF"/>
                </a:solidFill>
              </a:rPr>
              <a:t>• Tailwind CSS</a:t>
            </a:r>
          </a:p>
          <a:p>
            <a:r>
              <a:rPr sz="1300">
                <a:solidFill>
                  <a:srgbClr val="FFFFFF"/>
                </a:solidFill>
              </a:rPr>
              <a:t>• Shadcn/ui components</a:t>
            </a:r>
          </a:p>
          <a:p>
            <a:r>
              <a:rPr sz="1300">
                <a:solidFill>
                  <a:srgbClr val="FFFFFF"/>
                </a:solidFill>
              </a:rPr>
              <a:t>• Zod (schema validation)</a:t>
            </a:r>
          </a:p>
          <a:p>
            <a:r>
              <a:rPr sz="1300">
                <a:solidFill>
                  <a:srgbClr val="FFFFFF"/>
                </a:solidFill>
              </a:rPr>
              <a:t>• Vitest (testing)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840480"/>
            <a:ext cx="5760720" cy="2514600"/>
          </a:xfrm>
          <a:prstGeom prst="rect">
            <a:avLst/>
          </a:prstGeom>
          <a:solidFill>
            <a:srgbClr val="162A46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39319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500"/>
                </a:solidFill>
              </a:rPr>
              <a:t>Data &amp;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343400"/>
            <a:ext cx="54864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• PostgreSQL (production)</a:t>
            </a:r>
          </a:p>
          <a:p>
            <a:r>
              <a:rPr sz="1300">
                <a:solidFill>
                  <a:srgbClr val="FFFFFF"/>
                </a:solidFill>
              </a:rPr>
              <a:t>• SQLite (development)</a:t>
            </a:r>
          </a:p>
          <a:p>
            <a:r>
              <a:rPr sz="1300">
                <a:solidFill>
                  <a:srgbClr val="FFFFFF"/>
                </a:solidFill>
              </a:rPr>
              <a:t>• FAISS / Chroma (vectors)</a:t>
            </a:r>
          </a:p>
          <a:p>
            <a:r>
              <a:rPr sz="1300">
                <a:solidFill>
                  <a:srgbClr val="FFFFFF"/>
                </a:solidFill>
              </a:rPr>
              <a:t>• LangChain / LlamaIndex</a:t>
            </a:r>
          </a:p>
          <a:p>
            <a:r>
              <a:rPr sz="1300">
                <a:solidFill>
                  <a:srgbClr val="FFFFFF"/>
                </a:solidFill>
              </a:rPr>
              <a:t>• NLI model (entailment)</a:t>
            </a:r>
          </a:p>
          <a:p>
            <a:r>
              <a:rPr sz="1300">
                <a:solidFill>
                  <a:srgbClr val="FFFFFF"/>
                </a:solidFill>
              </a:rPr>
              <a:t>• OpenAI / Groq (LLM)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59" y="3840480"/>
            <a:ext cx="5760720" cy="2514600"/>
          </a:xfrm>
          <a:prstGeom prst="rect">
            <a:avLst/>
          </a:prstGeom>
          <a:solidFill>
            <a:srgbClr val="162A46"/>
          </a:solidFill>
          <a:ln w="25400">
            <a:solidFill>
              <a:srgbClr val="995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9319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955FF"/>
                </a:solidFill>
              </a:rPr>
              <a:t>DevOps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343400"/>
            <a:ext cx="54864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• Docker + Docker Compose</a:t>
            </a:r>
          </a:p>
          <a:p>
            <a:r>
              <a:rPr sz="1300">
                <a:solidFill>
                  <a:srgbClr val="FFFFFF"/>
                </a:solidFill>
              </a:rPr>
              <a:t>• Makefile build targets</a:t>
            </a:r>
          </a:p>
          <a:p>
            <a:r>
              <a:rPr sz="1300">
                <a:solidFill>
                  <a:srgbClr val="FFFFFF"/>
                </a:solidFill>
              </a:rPr>
              <a:t>• GitHub Actions CI/CD</a:t>
            </a:r>
          </a:p>
          <a:p>
            <a:r>
              <a:rPr sz="1300">
                <a:solidFill>
                  <a:srgbClr val="FFFFFF"/>
                </a:solidFill>
              </a:rPr>
              <a:t>• Redis (caching)</a:t>
            </a:r>
          </a:p>
          <a:p>
            <a:r>
              <a:rPr sz="1300">
                <a:solidFill>
                  <a:srgbClr val="FFFFFF"/>
                </a:solidFill>
              </a:rPr>
              <a:t>• pgAdmin (DB management)</a:t>
            </a:r>
          </a:p>
          <a:p>
            <a:r>
              <a:rPr sz="1300">
                <a:solidFill>
                  <a:srgbClr val="FFFFFF"/>
                </a:solidFill>
              </a:rPr>
              <a:t>• OpenAPI / Swagger docs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Datasets &amp;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Publicly released evaluation assets for reproducibility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3657600" cy="12801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2A"/>
                </a:solidFill>
              </a:rPr>
              <a:t>40–60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Policy Corpus
(University Policies)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560320"/>
            <a:ext cx="3657600" cy="283464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33832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▸  Curated from MIT, Stanford, UC Berkeley, Cornell…</a:t>
            </a:r>
          </a:p>
          <a:p>
            <a:r>
              <a:rPr sz="1300">
                <a:solidFill>
                  <a:srgbClr val="FFFFFF"/>
                </a:solidFill>
              </a:rPr>
              <a:t>▸  Cleaned, schema-ified, attribution documented</a:t>
            </a:r>
          </a:p>
          <a:p>
            <a:r>
              <a:rPr sz="1300">
                <a:solidFill>
                  <a:srgbClr val="FFFFFF"/>
                </a:solidFill>
              </a:rPr>
              <a:t>▸  Retrieval URLs preserved for provenance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188720"/>
            <a:ext cx="3657600" cy="128016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234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2A"/>
                </a:solidFill>
              </a:rPr>
              <a:t>80–100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7830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Q&amp;A Benchmark
(Expert Annotated)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2560320"/>
            <a:ext cx="3657600" cy="2834640"/>
          </a:xfrm>
          <a:prstGeom prst="rect">
            <a:avLst/>
          </a:prstGeom>
          <a:solidFill>
            <a:srgbClr val="162A46"/>
          </a:solidFill>
          <a:ln w="12700">
            <a:solidFill>
              <a:srgbClr val="00C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651760"/>
            <a:ext cx="33832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▸  Policy questions with gold answers</a:t>
            </a:r>
          </a:p>
          <a:p>
            <a:r>
              <a:rPr sz="1300">
                <a:solidFill>
                  <a:srgbClr val="FFFFFF"/>
                </a:solidFill>
              </a:rPr>
              <a:t>▸  2 expert raters · Cohen's κ &gt; 0.70</a:t>
            </a:r>
          </a:p>
          <a:p>
            <a:r>
              <a:rPr sz="1300">
                <a:solidFill>
                  <a:srgbClr val="FFFFFF"/>
                </a:solidFill>
              </a:rPr>
              <a:t>▸  Citing clauses identified per answer</a:t>
            </a:r>
          </a:p>
          <a:p>
            <a:r>
              <a:rPr sz="1300">
                <a:solidFill>
                  <a:srgbClr val="FFFFFF"/>
                </a:solidFill>
              </a:rPr>
              <a:t>▸  Train / test split for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657600" cy="12801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34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2A"/>
                </a:solidFill>
              </a:rPr>
              <a:t>40–50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7830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Scenario Test Suite
(Enforcement Cases)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560320"/>
            <a:ext cx="3657600" cy="2834640"/>
          </a:xfrm>
          <a:prstGeom prst="rect">
            <a:avLst/>
          </a:prstGeom>
          <a:solidFill>
            <a:srgbClr val="162A46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651760"/>
            <a:ext cx="33832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▸  Covers ALLOW, DENY, override, conflict, ambiguous</a:t>
            </a:r>
          </a:p>
          <a:p>
            <a:r>
              <a:rPr sz="1300">
                <a:solidFill>
                  <a:srgbClr val="FFFFFF"/>
                </a:solidFill>
              </a:rPr>
              <a:t>▸  Gold decisions for accuracy measurement</a:t>
            </a:r>
          </a:p>
          <a:p>
            <a:r>
              <a:rPr sz="1300">
                <a:solidFill>
                  <a:srgbClr val="FFFFFF"/>
                </a:solidFill>
              </a:rPr>
              <a:t>▸  Property-based tests via Hypothesis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A8BBD4"/>
                </a:solidFill>
              </a:rPr>
              <a:t>All datasets will be publicly released with the paper for full reproducibility.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Metrics &amp; Research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Quantitative evaluation goals for publication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4754880" cy="41148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34440"/>
            <a:ext cx="4617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188720"/>
            <a:ext cx="2743200" cy="41148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9" y="1234440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1188720"/>
            <a:ext cx="3383280" cy="41148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23444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00200"/>
            <a:ext cx="475488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1691640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Enforcement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600200"/>
            <a:ext cx="274320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79" y="169164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9A"/>
                </a:solidFill>
              </a:rPr>
              <a:t>&gt; 90 %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1600200"/>
            <a:ext cx="338328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6916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BBD4"/>
                </a:solidFill>
              </a:rPr>
              <a:t>Manual: 70–80 %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194560"/>
            <a:ext cx="4754880" cy="566928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286000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Conflict Detection F1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2194560"/>
            <a:ext cx="2743200" cy="566928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79" y="228600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9A"/>
                </a:solidFill>
              </a:rPr>
              <a:t>&gt; 0.85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9560" y="2194560"/>
            <a:ext cx="3383280" cy="566928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28600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BBD4"/>
                </a:solidFill>
              </a:rPr>
              <a:t>None (manual)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788920"/>
            <a:ext cx="475488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79" y="2880360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Citation Correctness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2788920"/>
            <a:ext cx="274320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79" y="288036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9A"/>
                </a:solidFill>
              </a:rPr>
              <a:t>&gt; 95 %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9560" y="2788920"/>
            <a:ext cx="338328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88036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BBD4"/>
                </a:solidFill>
              </a:rPr>
              <a:t>Naïve RAG: ~75 %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383280"/>
            <a:ext cx="4754880" cy="566928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79" y="3474720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Answer Correctness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3383280"/>
            <a:ext cx="2743200" cy="566928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9" y="347472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9A"/>
                </a:solidFill>
              </a:rPr>
              <a:t>&gt; 90 %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09560" y="3383280"/>
            <a:ext cx="3383280" cy="566928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347472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BBD4"/>
                </a:solidFill>
              </a:rPr>
              <a:t>Naïve RAG: 65 %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977639"/>
            <a:ext cx="475488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79" y="4069079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Hallucination Rate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0640" y="3977639"/>
            <a:ext cx="274320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79" y="4069079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A500"/>
                </a:solidFill>
              </a:rPr>
              <a:t>&lt; 5 %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09560" y="3977639"/>
            <a:ext cx="338328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4069079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BBD4"/>
                </a:solidFill>
              </a:rPr>
              <a:t>Naïve RAG: ~20 %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572000"/>
            <a:ext cx="4754880" cy="566928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4663440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Authoring Time Reduction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20640" y="4572000"/>
            <a:ext cx="2743200" cy="566928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12079" y="466344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9A"/>
                </a:solidFill>
              </a:rPr>
              <a:t>&gt; 50 %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09560" y="4572000"/>
            <a:ext cx="3383280" cy="566928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46634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BBD4"/>
                </a:solidFill>
              </a:rPr>
              <a:t>Freeform baseline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5166360"/>
            <a:ext cx="475488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79" y="5257800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Student Trust (SUS Score)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0" y="5166360"/>
            <a:ext cx="274320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79" y="525780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9A"/>
                </a:solidFill>
              </a:rPr>
              <a:t>&gt; 75 pts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09560" y="5166360"/>
            <a:ext cx="3383280" cy="566928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01000" y="525780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BBD4"/>
                </a:solidFill>
              </a:rPr>
              <a:t>Control: ~60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Current Status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75 % complete – production-grade, fully tested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73152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61872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Policy-as-Code Compiler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188720"/>
            <a:ext cx="420624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26187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A"/>
                </a:solidFill>
              </a:rPr>
              <a:t>✅  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55648"/>
            <a:ext cx="73152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828800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Enforcement Middleware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1755648"/>
            <a:ext cx="420624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182880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A"/>
                </a:solidFill>
              </a:rPr>
              <a:t>✅  COMPLETE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322576"/>
            <a:ext cx="73152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395728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Transparency Ledger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322576"/>
            <a:ext cx="420624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23957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A"/>
                </a:solidFill>
              </a:rPr>
              <a:t>✅ 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889504"/>
            <a:ext cx="73152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962656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Verified RAG Copilot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2889504"/>
            <a:ext cx="420624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296265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🔄  IN PROGRESS (endpoint exists)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56432"/>
            <a:ext cx="73152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29584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Frontend (Next.js)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3456432"/>
            <a:ext cx="420624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352958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A"/>
                </a:solidFill>
              </a:rPr>
              <a:t>✅  SCAFFOLDED + COMPONENTS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023360"/>
            <a:ext cx="73152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096512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Database + ORM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4023360"/>
            <a:ext cx="420624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18120" y="409651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A"/>
                </a:solidFill>
              </a:rPr>
              <a:t>✅  WORKING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590288"/>
            <a:ext cx="73152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663440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 Suite (15+ files)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4590288"/>
            <a:ext cx="420624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8120" y="466344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A"/>
                </a:solidFill>
              </a:rPr>
              <a:t>✅  COMPLETE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157216"/>
            <a:ext cx="73152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230368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Documentation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5157216"/>
            <a:ext cx="420624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18120" y="523036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A"/>
                </a:solidFill>
              </a:rPr>
              <a:t>✅  COMPLETE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532120"/>
            <a:ext cx="11612880" cy="7772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577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C89A"/>
                </a:solidFill>
              </a:rPr>
              <a:t>Now
75 %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5577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FF"/>
                </a:solidFill>
              </a:rPr>
              <a:t>+ 3 days
RAG Done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577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A500"/>
                </a:solidFill>
              </a:rPr>
              <a:t>+ 2 wks
User Studies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5577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E66AA"/>
                </a:solidFill>
              </a:rPr>
              <a:t>+ 1 month
Published 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Ethics &amp; Privacy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Privacy-first architecture with no student PII ever stored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246888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261872"/>
            <a:ext cx="5532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🔒  Zero PII 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60020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Salted hash pseudonyms – not real student IDs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Pseudonym rotation every 30 days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Content-free logging: only action type + timestamp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188720"/>
            <a:ext cx="5760720" cy="246888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261872"/>
            <a:ext cx="5532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👁  Student Transparency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160020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Students see their own aggregated logs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Explicit disclosure of what is &amp; isn't logged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Policy links embedded in every log entry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794760"/>
            <a:ext cx="5760720" cy="246888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867912"/>
            <a:ext cx="5532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⚙️  Control &amp; Autonomy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20624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Students can opt-out of logging at any time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(Policy is still enforced; only logging is disabled)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90-day default retention; configurable per institution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59" y="3794760"/>
            <a:ext cx="5760720" cy="2468880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867912"/>
            <a:ext cx="5532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A"/>
                </a:solidFill>
              </a:rPr>
              <a:t>⚖️  Fairness &amp; Bias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20624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Synthetic demographic-neutral test cases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Disparate impact analysis included in paper appendix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No learning outcome inference from logs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Novel Research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Target: FAccT 2026 · SIGCSE 2026 · ASEE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005840" cy="1078992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630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1B2A"/>
                </a:solidFill>
              </a:rPr>
              <a:t>#1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234440"/>
            <a:ext cx="10515600" cy="1078992"/>
          </a:xfrm>
          <a:prstGeom prst="rect">
            <a:avLst/>
          </a:prstGeom>
          <a:solidFill>
            <a:srgbClr val="162A46"/>
          </a:solidFill>
          <a:ln w="12700">
            <a:solidFill>
              <a:srgbClr val="1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130759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7AFF"/>
                </a:solidFill>
              </a:rPr>
              <a:t>First Policy-as-Code System for Higher Education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709928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Complete pipeline from faculty template form to machine-executable JSON rules
with automatic conflict detection and version control.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96312"/>
            <a:ext cx="1005840" cy="1078992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72491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1B2A"/>
                </a:solidFill>
              </a:rPr>
              <a:t>#2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2496312"/>
            <a:ext cx="10515600" cy="1078992"/>
          </a:xfrm>
          <a:prstGeom prst="rect">
            <a:avLst/>
          </a:prstGeom>
          <a:solidFill>
            <a:srgbClr val="162A46"/>
          </a:solidFill>
          <a:ln w="12700">
            <a:solidFill>
              <a:srgbClr val="00C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2569464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9A"/>
                </a:solidFill>
              </a:rPr>
              <a:t>Privacy-First Transparency Ledger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9718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Metadata-only logging architecture that provides student accountability
without storing any PII or interaction content.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758183"/>
            <a:ext cx="1005840" cy="107899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986783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1B2A"/>
                </a:solidFill>
              </a:rPr>
              <a:t>#3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3758183"/>
            <a:ext cx="10515600" cy="1078992"/>
          </a:xfrm>
          <a:prstGeom prst="rect">
            <a:avLst/>
          </a:prstGeom>
          <a:solidFill>
            <a:srgbClr val="162A46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3831335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A500"/>
                </a:solidFill>
              </a:rPr>
              <a:t>Production-Grade Decision Engine with Full Traceability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233671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Stateless, deterministic enforcement function with complete audit trail
for every governance decision, enabling post-hoc review.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020056"/>
            <a:ext cx="1005840" cy="1078992"/>
          </a:xfrm>
          <a:prstGeom prst="rect">
            <a:avLst/>
          </a:prstGeom>
          <a:solidFill>
            <a:srgbClr val="EE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524865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1B2A"/>
                </a:solidFill>
              </a:rPr>
              <a:t>#4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5020056"/>
            <a:ext cx="10515600" cy="1078992"/>
          </a:xfrm>
          <a:prstGeom prst="rect">
            <a:avLst/>
          </a:prstGeom>
          <a:solidFill>
            <a:srgbClr val="162A46"/>
          </a:solidFill>
          <a:ln w="12700">
            <a:solidFill>
              <a:srgbClr val="EE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08760" y="5093208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E66AA"/>
                </a:solidFill>
              </a:rPr>
              <a:t>Verified RAG for Policy Domains  (in progress)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495544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Citation-level verification pipeline combining NLI entailment scoring,
consistency checking, and hallucination detection.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1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Trustworthy AI governance for higher education – executable, transparent, and privacy-first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D4"/>
                </a:solidFill>
              </a:rPr>
              <a:t>GenAI Governance System | Higher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423160"/>
            <a:ext cx="1463040" cy="530352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49631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Built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423160"/>
            <a:ext cx="100584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2496312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 of 4 core components fully operational and tested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081528"/>
            <a:ext cx="1463040" cy="530352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15468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Scale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081528"/>
            <a:ext cx="100584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3154680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3 500+ lines of production code  ·  15+ test files  ·  8 API endpoints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39896"/>
            <a:ext cx="1463040" cy="530352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813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3739896"/>
            <a:ext cx="100584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3813048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9-university policy corpus  ·  80+ Q&amp;A benchmark  ·  40+ scenario suite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98264"/>
            <a:ext cx="1463040" cy="530352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47141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4398264"/>
            <a:ext cx="100584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4471416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First integrated policy-as-code + transparency ledger for higher education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056631"/>
            <a:ext cx="1463040" cy="530352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5129783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Privacy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20240" y="5056631"/>
            <a:ext cx="100584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5129783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Zero PII stored – pseudonymous logging with student-facing transparency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715000"/>
            <a:ext cx="1463040" cy="530352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78815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Next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5715000"/>
            <a:ext cx="10058400" cy="530352"/>
          </a:xfrm>
          <a:prstGeom prst="rect">
            <a:avLst/>
          </a:prstGeom>
          <a:solidFill>
            <a:srgbClr val="16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5788152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Complete RAG → User studies → FAccT 2026 submission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8BBD4"/>
                </a:solidFill>
              </a:rPr>
              <a:t>Made with ❤️  for trustworthy AI governance in education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